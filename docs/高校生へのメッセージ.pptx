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4021" r:id="rId1"/>
  </p:sldMasterIdLst>
  <p:notesMasterIdLst>
    <p:notesMasterId r:id="rId7"/>
  </p:notesMasterIdLst>
  <p:handoutMasterIdLst>
    <p:handoutMasterId r:id="rId8"/>
  </p:handoutMasterIdLst>
  <p:sldIdLst>
    <p:sldId id="261" r:id="rId2"/>
    <p:sldId id="262" r:id="rId3"/>
    <p:sldId id="263" r:id="rId4"/>
    <p:sldId id="264" r:id="rId5"/>
    <p:sldId id="265" r:id="rId6"/>
  </p:sldIdLst>
  <p:sldSz cx="9144000" cy="5143500" type="screen16x9"/>
  <p:notesSz cx="10234613" cy="7099300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entury Gothic" panose="020B0502020202020204" pitchFamily="34" charset="0"/>
      <p:regular r:id="rId13"/>
      <p:bold r:id="rId14"/>
      <p:italic r:id="rId15"/>
      <p:boldItalic r:id="rId16"/>
    </p:embeddedFont>
    <p:embeddedFont>
      <p:font typeface="Wingdings 3" panose="05040102010807070707" pitchFamily="18" charset="2"/>
      <p:regular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3A0798-9444-4FAF-A0DA-8A320EB8CD9E}">
  <a:tblStyle styleId="{6E3A0798-9444-4FAF-A0DA-8A320EB8CD9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144" y="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font" Target="fonts/font5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78976273-865F-4DEE-BAD6-E2714E9AFA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999" cy="356609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r>
              <a:rPr lang="ja-JP" altLang="en-US"/>
              <a:t>　</a:t>
            </a:r>
            <a:endParaRPr 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8B3D82A-6FF2-4AE8-99D9-C6F567A36CC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797838" y="0"/>
            <a:ext cx="4434999" cy="356609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B2DE2CB9-AE8C-42A2-B14E-7E07BA321FD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5BAF2EF-6FB2-402D-9DC6-DB5B61D4CA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742693"/>
            <a:ext cx="4434999" cy="356608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E47C509-0C6A-4F9C-9842-F159FA7F23C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797838" y="6742693"/>
            <a:ext cx="4434999" cy="356608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8490C489-F093-4908-B506-A46B42234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701469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51138" y="531813"/>
            <a:ext cx="4732337" cy="26622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023462" y="3372168"/>
            <a:ext cx="8187690" cy="3194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32" tIns="99032" rIns="99032" bIns="9903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51138" y="531813"/>
            <a:ext cx="4732337" cy="26622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>
            <a:spLocks noGrp="1"/>
          </p:cNvSpPr>
          <p:nvPr>
            <p:ph type="body" idx="1"/>
          </p:nvPr>
        </p:nvSpPr>
        <p:spPr>
          <a:xfrm>
            <a:off x="1023462" y="3372168"/>
            <a:ext cx="8187690" cy="3194685"/>
          </a:xfrm>
          <a:prstGeom prst="rect">
            <a:avLst/>
          </a:prstGeom>
        </p:spPr>
        <p:txBody>
          <a:bodyPr spcFirstLastPara="1" wrap="square" lIns="99032" tIns="99032" rIns="99032" bIns="9903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09651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142697d6796_0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51138" y="531813"/>
            <a:ext cx="4732337" cy="26622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142697d6796_0_297:notes"/>
          <p:cNvSpPr txBox="1">
            <a:spLocks noGrp="1"/>
          </p:cNvSpPr>
          <p:nvPr>
            <p:ph type="body" idx="1"/>
          </p:nvPr>
        </p:nvSpPr>
        <p:spPr>
          <a:xfrm>
            <a:off x="1023462" y="3372168"/>
            <a:ext cx="8187690" cy="3194685"/>
          </a:xfrm>
          <a:prstGeom prst="rect">
            <a:avLst/>
          </a:prstGeom>
        </p:spPr>
        <p:txBody>
          <a:bodyPr spcFirstLastPara="1" wrap="square" lIns="99032" tIns="99032" rIns="99032" bIns="9903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84325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42697d6796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51138" y="531813"/>
            <a:ext cx="4732337" cy="26622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42697d6796_0_202:notes"/>
          <p:cNvSpPr txBox="1">
            <a:spLocks noGrp="1"/>
          </p:cNvSpPr>
          <p:nvPr>
            <p:ph type="body" idx="1"/>
          </p:nvPr>
        </p:nvSpPr>
        <p:spPr>
          <a:xfrm>
            <a:off x="1023462" y="3372168"/>
            <a:ext cx="8187690" cy="3194685"/>
          </a:xfrm>
          <a:prstGeom prst="rect">
            <a:avLst/>
          </a:prstGeom>
        </p:spPr>
        <p:txBody>
          <a:bodyPr spcFirstLastPara="1" wrap="square" lIns="99032" tIns="99032" rIns="99032" bIns="9903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0955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142697d6796_0_3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51138" y="531813"/>
            <a:ext cx="4732337" cy="26622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142697d6796_0_302:notes"/>
          <p:cNvSpPr txBox="1">
            <a:spLocks noGrp="1"/>
          </p:cNvSpPr>
          <p:nvPr>
            <p:ph type="body" idx="1"/>
          </p:nvPr>
        </p:nvSpPr>
        <p:spPr>
          <a:xfrm>
            <a:off x="1023462" y="3372168"/>
            <a:ext cx="8187690" cy="3194685"/>
          </a:xfrm>
          <a:prstGeom prst="rect">
            <a:avLst/>
          </a:prstGeom>
        </p:spPr>
        <p:txBody>
          <a:bodyPr spcFirstLastPara="1" wrap="square" lIns="99032" tIns="99032" rIns="99032" bIns="9903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4089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42871d974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51138" y="531813"/>
            <a:ext cx="4732337" cy="26622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142871d9749_1_0:notes"/>
          <p:cNvSpPr txBox="1">
            <a:spLocks noGrp="1"/>
          </p:cNvSpPr>
          <p:nvPr>
            <p:ph type="body" idx="1"/>
          </p:nvPr>
        </p:nvSpPr>
        <p:spPr>
          <a:xfrm>
            <a:off x="1023462" y="3372168"/>
            <a:ext cx="8187690" cy="3194685"/>
          </a:xfrm>
          <a:prstGeom prst="rect">
            <a:avLst/>
          </a:prstGeom>
        </p:spPr>
        <p:txBody>
          <a:bodyPr spcFirstLastPara="1" wrap="square" lIns="99032" tIns="99032" rIns="99032" bIns="9903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7649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1910" y="1885950"/>
            <a:ext cx="6686549" cy="1697086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1910" y="3583035"/>
            <a:ext cx="6686549" cy="844712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3242858"/>
            <a:ext cx="1308489" cy="583942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3397155"/>
            <a:ext cx="584825" cy="273844"/>
          </a:xfrm>
        </p:spPr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3203827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44817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1909" y="1055986"/>
            <a:ext cx="6686550" cy="3619432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382673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544063"/>
            <a:ext cx="6686549" cy="1101600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2647597"/>
            <a:ext cx="6686549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2742609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1909" y="1600200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3060" y="1594666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2301619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530" y="1479527"/>
            <a:ext cx="299454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1909" y="1911725"/>
            <a:ext cx="3257170" cy="2515545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29972" y="1477106"/>
            <a:ext cx="299925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5218" y="1909304"/>
            <a:ext cx="3254006" cy="2515545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2869230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3246032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2584490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34566"/>
            <a:ext cx="2628899" cy="732234"/>
          </a:xfrm>
        </p:spPr>
        <p:txBody>
          <a:bodyPr anchor="b"/>
          <a:lstStyle>
            <a:lvl1pPr algn="l">
              <a:defRPr sz="15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259" y="334567"/>
            <a:ext cx="3886200" cy="4061222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1198960"/>
            <a:ext cx="2628899" cy="319682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3605031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600450"/>
            <a:ext cx="668655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1909" y="476224"/>
            <a:ext cx="6686550" cy="2891228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4025504"/>
            <a:ext cx="6686550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4249506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57200"/>
            <a:ext cx="6686549" cy="233778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1927603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56259" y="2628900"/>
            <a:ext cx="5652416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797352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828800"/>
            <a:ext cx="6686550" cy="2043634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1272956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842256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70555"/>
            <a:ext cx="6686549" cy="2160015"/>
          </a:xfrm>
        </p:spPr>
        <p:txBody>
          <a:bodyPr anchor="ctr">
            <a:normAutofit/>
          </a:bodyPr>
          <a:lstStyle>
            <a:lvl1pPr algn="l">
              <a:defRPr sz="36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41622975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20944068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1109" y="470554"/>
            <a:ext cx="1655701" cy="3962863"/>
          </a:xfrm>
        </p:spPr>
        <p:txBody>
          <a:bodyPr vert="eaVert"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1909" y="470554"/>
            <a:ext cx="4857750" cy="396286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19307469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171450"/>
            <a:ext cx="2138637" cy="4978971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0416" y="-589"/>
            <a:ext cx="1767506" cy="514052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4694" y="307811"/>
            <a:ext cx="6683765" cy="497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09" y="1101560"/>
            <a:ext cx="6686550" cy="3581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1210" y="4733516"/>
            <a:ext cx="859712" cy="2777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7/22/2025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1910" y="4737544"/>
            <a:ext cx="57149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398860" y="590837"/>
            <a:ext cx="58482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0">
                <a:solidFill>
                  <a:srgbClr val="FEFFFF"/>
                </a:solidFill>
              </a:defRPr>
            </a:lvl1pPr>
          </a:lstStyle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</p:spTree>
    <p:extLst>
      <p:ext uri="{BB962C8B-B14F-4D97-AF65-F5344CB8AC3E}">
        <p14:creationId xmlns:p14="http://schemas.microsoft.com/office/powerpoint/2010/main" val="2884650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2" r:id="rId1"/>
    <p:sldLayoutId id="2147484023" r:id="rId2"/>
    <p:sldLayoutId id="2147484024" r:id="rId3"/>
    <p:sldLayoutId id="2147484025" r:id="rId4"/>
    <p:sldLayoutId id="2147484026" r:id="rId5"/>
    <p:sldLayoutId id="2147484027" r:id="rId6"/>
    <p:sldLayoutId id="2147484028" r:id="rId7"/>
    <p:sldLayoutId id="2147484029" r:id="rId8"/>
    <p:sldLayoutId id="2147484030" r:id="rId9"/>
    <p:sldLayoutId id="2147484031" r:id="rId10"/>
    <p:sldLayoutId id="2147484032" r:id="rId11"/>
    <p:sldLayoutId id="2147484033" r:id="rId12"/>
    <p:sldLayoutId id="2147484034" r:id="rId13"/>
    <p:sldLayoutId id="2147484035" r:id="rId14"/>
    <p:sldLayoutId id="2147484036" r:id="rId15"/>
    <p:sldLayoutId id="2147484037" r:id="rId16"/>
  </p:sldLayoutIdLst>
  <p:hf sldNum="0" hdr="0" ftr="0"/>
  <p:txStyles>
    <p:titleStyle>
      <a:lvl1pPr algn="l" defTabSz="342900" rtl="0" eaLnBrk="1" latinLnBrk="0" hangingPunct="1">
        <a:spcBef>
          <a:spcPct val="0"/>
        </a:spcBef>
        <a:buNone/>
        <a:defRPr kumimoji="1" sz="27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1941910" y="1885950"/>
            <a:ext cx="6686549" cy="1697086"/>
          </a:xfrm>
        </p:spPr>
        <p:txBody>
          <a:bodyPr spcFirstLastPara="1" vert="horz" wrap="square" lIns="91425" tIns="91425" rIns="91425" bIns="91425" rtlCol="0" anchor="b" anchorCtr="0">
            <a:normAutofit/>
          </a:bodyPr>
          <a:lstStyle/>
          <a:p>
            <a:pPr lvl="0"/>
            <a:r>
              <a:rPr lang="ja-JP" altLang="en-US" dirty="0"/>
              <a:t>物体運動の</a:t>
            </a:r>
          </a:p>
          <a:p>
            <a:pPr lvl="0"/>
            <a:r>
              <a:rPr lang="ja-JP" altLang="en-US" dirty="0"/>
              <a:t>シミュレーション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1941910" y="3583035"/>
            <a:ext cx="6686549" cy="844712"/>
          </a:xfrm>
        </p:spPr>
        <p:txBody>
          <a:bodyPr spcFirstLastPara="1" vert="horz" wrap="square" lIns="91425" tIns="91425" rIns="91425" bIns="91425" rtlCol="0" anchor="t" anchorCtr="0">
            <a:normAutofit fontScale="92500" lnSpcReduction="20000"/>
          </a:bodyPr>
          <a:lstStyle/>
          <a:p>
            <a:pPr lvl="0"/>
            <a:r>
              <a:rPr lang="ja-JP" altLang="en-US" dirty="0"/>
              <a:t>宇都宮大学　機械システム工学コース</a:t>
            </a:r>
          </a:p>
          <a:p>
            <a:pPr lvl="0"/>
            <a:r>
              <a:rPr lang="ja-JP" altLang="en-US" dirty="0"/>
              <a:t>吉田，山仲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536C2F2-D5E5-4E48-8F7A-D498C7FA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1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448173"/>
          </a:xfr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pPr lvl="0"/>
            <a:r>
              <a:rPr lang="ja-JP" altLang="en-US" dirty="0"/>
              <a:t>高校生へのメッセージ</a:t>
            </a:r>
          </a:p>
        </p:txBody>
      </p:sp>
      <p:sp>
        <p:nvSpPr>
          <p:cNvPr id="92" name="Google Shape;92;p14"/>
          <p:cNvSpPr txBox="1">
            <a:spLocks noGrp="1"/>
          </p:cNvSpPr>
          <p:nvPr>
            <p:ph idx="1"/>
          </p:nvPr>
        </p:nvSpPr>
        <p:spPr>
          <a:xfrm>
            <a:off x="1941909" y="1055986"/>
            <a:ext cx="6852006" cy="3619432"/>
          </a:xfrm>
        </p:spPr>
        <p:txBody>
          <a:bodyPr spcFirstLastPara="1" vert="horz" wrap="square" lIns="91425" tIns="91425" rIns="91425" bIns="91425" rtlCol="0" anchor="t" anchorCtr="0">
            <a:normAutofit/>
          </a:bodyPr>
          <a:lstStyle/>
          <a:p>
            <a:pPr lvl="0">
              <a:lnSpc>
                <a:spcPct val="150000"/>
              </a:lnSpc>
            </a:pPr>
            <a:r>
              <a:rPr lang="ja-JP" altLang="en-US" dirty="0"/>
              <a:t>本講座は，大学２年生向けの講義を，簡単にしたものです．</a:t>
            </a:r>
          </a:p>
          <a:p>
            <a:pPr lvl="0">
              <a:lnSpc>
                <a:spcPct val="150000"/>
              </a:lnSpc>
            </a:pPr>
            <a:r>
              <a:rPr lang="ja-JP" altLang="en-US" dirty="0"/>
              <a:t>それでも</a:t>
            </a:r>
            <a:r>
              <a:rPr lang="ja-JP" altLang="en-US"/>
              <a:t>，難しく感じて</a:t>
            </a:r>
            <a:r>
              <a:rPr lang="ja-JP" altLang="en-US" dirty="0"/>
              <a:t>，途方に暮れるかも？</a:t>
            </a:r>
          </a:p>
          <a:p>
            <a:pPr lvl="1">
              <a:lnSpc>
                <a:spcPct val="150000"/>
              </a:lnSpc>
            </a:pPr>
            <a:r>
              <a:rPr lang="ja-JP" altLang="en-US" dirty="0"/>
              <a:t>習ってねーのに，できるわけねーし・・・</a:t>
            </a:r>
          </a:p>
          <a:p>
            <a:pPr lvl="0">
              <a:lnSpc>
                <a:spcPct val="150000"/>
              </a:lnSpc>
            </a:pPr>
            <a:r>
              <a:rPr lang="ja-JP" altLang="en-US" dirty="0"/>
              <a:t>実はこれは，皆さんだけではありません！</a:t>
            </a:r>
          </a:p>
          <a:p>
            <a:pPr lvl="1">
              <a:lnSpc>
                <a:spcPct val="150000"/>
              </a:lnSpc>
            </a:pPr>
            <a:r>
              <a:rPr lang="ja-JP" altLang="en-US" dirty="0"/>
              <a:t>大学生は卒業研究で，研究者は仕事で，同じ状況になります（笑）</a:t>
            </a:r>
          </a:p>
          <a:p>
            <a:pPr lvl="0">
              <a:lnSpc>
                <a:spcPct val="150000"/>
              </a:lnSpc>
            </a:pPr>
            <a:r>
              <a:rPr lang="ja-JP" altLang="en-US" dirty="0"/>
              <a:t>せっかくなので，体験して，対処法を身につけましょう．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47AC78E-8765-4F13-BC53-D8417AE14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0229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448173"/>
          </a:xfr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pPr lvl="0"/>
            <a:r>
              <a:rPr lang="ja-JP" altLang="en-US" dirty="0"/>
              <a:t>本日のメニュー</a:t>
            </a:r>
          </a:p>
        </p:txBody>
      </p:sp>
      <p:sp>
        <p:nvSpPr>
          <p:cNvPr id="98" name="Google Shape;98;p15"/>
          <p:cNvSpPr txBox="1">
            <a:spLocks noGrp="1"/>
          </p:cNvSpPr>
          <p:nvPr>
            <p:ph idx="1"/>
          </p:nvPr>
        </p:nvSpPr>
        <p:spPr>
          <a:xfrm>
            <a:off x="1941909" y="1055986"/>
            <a:ext cx="6686550" cy="3619432"/>
          </a:xfrm>
        </p:spPr>
        <p:txBody>
          <a:bodyPr spcFirstLastPara="1" vert="horz" wrap="square" lIns="91425" tIns="91425" rIns="91425" bIns="91425" rtlCol="0" anchor="t" anchorCtr="0">
            <a:normAutofit/>
          </a:bodyPr>
          <a:lstStyle/>
          <a:p>
            <a:pPr lvl="0">
              <a:lnSpc>
                <a:spcPct val="150000"/>
              </a:lnSpc>
            </a:pPr>
            <a:r>
              <a:rPr lang="ja-JP" altLang="en-US" dirty="0"/>
              <a:t>プログラミング環境への手引き</a:t>
            </a:r>
          </a:p>
          <a:p>
            <a:pPr lvl="1">
              <a:lnSpc>
                <a:spcPct val="150000"/>
              </a:lnSpc>
            </a:pPr>
            <a:r>
              <a:rPr lang="ja-JP" altLang="en-US" dirty="0"/>
              <a:t>帰ってから，スマホや家の</a:t>
            </a:r>
            <a:r>
              <a:rPr lang="en-US" altLang="ja-JP" dirty="0"/>
              <a:t>PC</a:t>
            </a:r>
            <a:r>
              <a:rPr lang="ja-JP" altLang="en-US" dirty="0"/>
              <a:t>でも実行できます．</a:t>
            </a:r>
          </a:p>
          <a:p>
            <a:pPr lvl="0">
              <a:lnSpc>
                <a:spcPct val="150000"/>
              </a:lnSpc>
            </a:pPr>
            <a:r>
              <a:rPr lang="ja-JP" altLang="en-US" dirty="0"/>
              <a:t>科学技術プログラミング入門</a:t>
            </a:r>
          </a:p>
          <a:p>
            <a:pPr lvl="0">
              <a:lnSpc>
                <a:spcPct val="150000"/>
              </a:lnSpc>
            </a:pPr>
            <a:r>
              <a:rPr lang="ja-JP" altLang="en-US" dirty="0"/>
              <a:t>物体運動のシミュレーション体験</a:t>
            </a:r>
          </a:p>
        </p:txBody>
      </p:sp>
      <p:pic>
        <p:nvPicPr>
          <p:cNvPr id="99" name="Google Shape;9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5414" y="1270539"/>
            <a:ext cx="1057275" cy="105727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C5EF2DB-350C-41F2-9A59-552593532A6E}"/>
              </a:ext>
            </a:extLst>
          </p:cNvPr>
          <p:cNvSpPr txBox="1"/>
          <p:nvPr/>
        </p:nvSpPr>
        <p:spPr>
          <a:xfrm>
            <a:off x="5284788" y="3688295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不安な人は，次のスライドへ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303B725-099D-4574-95FA-DABE90DC1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907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448173"/>
          </a:xfr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pPr lvl="0"/>
            <a:r>
              <a:rPr lang="ja-JP" altLang="en-US" dirty="0"/>
              <a:t>「できないこと」への対処法</a:t>
            </a:r>
            <a:r>
              <a:rPr lang="ja-JP" altLang="en-US" sz="2200" dirty="0"/>
              <a:t>（研究者の経験則）</a:t>
            </a:r>
            <a:endParaRPr lang="ja-JP" altLang="en-US" dirty="0"/>
          </a:p>
        </p:txBody>
      </p:sp>
      <p:sp>
        <p:nvSpPr>
          <p:cNvPr id="106" name="Google Shape;106;p16"/>
          <p:cNvSpPr txBox="1">
            <a:spLocks noGrp="1"/>
          </p:cNvSpPr>
          <p:nvPr>
            <p:ph idx="1"/>
          </p:nvPr>
        </p:nvSpPr>
        <p:spPr>
          <a:xfrm>
            <a:off x="1941909" y="1055986"/>
            <a:ext cx="6686550" cy="3619432"/>
          </a:xfr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lvl="0"/>
            <a:r>
              <a:rPr lang="ja-JP" altLang="en-US" dirty="0"/>
              <a:t>小中高の倫理感を，見直す！　</a:t>
            </a:r>
            <a:r>
              <a:rPr lang="ja-JP" altLang="en-US" sz="1600" dirty="0"/>
              <a:t>∵クリエイティブには不向き</a:t>
            </a:r>
            <a:endParaRPr lang="ja-JP" altLang="en-US" dirty="0"/>
          </a:p>
          <a:p>
            <a:pPr lvl="1"/>
            <a:r>
              <a:rPr lang="ja-JP" altLang="en-US" strike="sngStrike" dirty="0"/>
              <a:t>ものごとには，しっかり準備してから，取り組むべきだ</a:t>
            </a:r>
            <a:r>
              <a:rPr lang="en-US" altLang="ja-JP" dirty="0"/>
              <a:t>	</a:t>
            </a:r>
            <a:r>
              <a:rPr lang="ja-JP" altLang="en-US" dirty="0"/>
              <a:t>←無理</a:t>
            </a:r>
          </a:p>
          <a:p>
            <a:pPr lvl="1"/>
            <a:r>
              <a:rPr lang="ja-JP" altLang="en-US" dirty="0">
                <a:solidFill>
                  <a:srgbClr val="FF0000"/>
                </a:solidFill>
              </a:rPr>
              <a:t>ものごとには，準備不足だろうが，取り組むべきだ！</a:t>
            </a:r>
            <a:r>
              <a:rPr lang="en-US" altLang="ja-JP" dirty="0">
                <a:solidFill>
                  <a:srgbClr val="FF0000"/>
                </a:solidFill>
              </a:rPr>
              <a:t>		</a:t>
            </a:r>
            <a:r>
              <a:rPr lang="ja-JP" altLang="en-US" dirty="0">
                <a:solidFill>
                  <a:srgbClr val="FF0000"/>
                </a:solidFill>
              </a:rPr>
              <a:t>←これ</a:t>
            </a:r>
          </a:p>
          <a:p>
            <a:pPr lvl="0">
              <a:spcBef>
                <a:spcPts val="1200"/>
              </a:spcBef>
            </a:pPr>
            <a:r>
              <a:rPr lang="ja-JP" altLang="en-US" dirty="0"/>
              <a:t>効果的な作業方法：</a:t>
            </a:r>
          </a:p>
          <a:p>
            <a:pPr marL="685800" lvl="1" indent="-342900">
              <a:buFont typeface="+mj-ea"/>
              <a:buAutoNum type="circleNumDbPlain"/>
            </a:pPr>
            <a:r>
              <a:rPr lang="ja-JP" altLang="en-US" dirty="0"/>
              <a:t>ノートを開いておく．できるところまで前進する．</a:t>
            </a:r>
          </a:p>
          <a:p>
            <a:pPr marL="685800" lvl="1" indent="-342900">
              <a:buFont typeface="+mj-ea"/>
              <a:buAutoNum type="circleNumDbPlain"/>
            </a:pPr>
            <a:r>
              <a:rPr lang="ja-JP" altLang="en-US" dirty="0"/>
              <a:t>つまずいたら，</a:t>
            </a:r>
            <a:r>
              <a:rPr lang="ja-JP" altLang="en-US" dirty="0">
                <a:solidFill>
                  <a:srgbClr val="FF0000"/>
                </a:solidFill>
              </a:rPr>
              <a:t>できないこと</a:t>
            </a:r>
            <a:r>
              <a:rPr lang="ja-JP" altLang="en-US" dirty="0"/>
              <a:t>を，</a:t>
            </a:r>
            <a:r>
              <a:rPr lang="ja-JP" altLang="en-US" dirty="0">
                <a:solidFill>
                  <a:srgbClr val="FF0000"/>
                </a:solidFill>
              </a:rPr>
              <a:t>ノート</a:t>
            </a:r>
            <a:r>
              <a:rPr lang="ja-JP" altLang="en-US" dirty="0"/>
              <a:t>に書く </a:t>
            </a:r>
            <a:r>
              <a:rPr lang="en-US" altLang="ja-JP" dirty="0"/>
              <a:t>/ </a:t>
            </a:r>
            <a:r>
              <a:rPr lang="ja-JP" altLang="en-US" dirty="0"/>
              <a:t>描く．</a:t>
            </a:r>
            <a:r>
              <a:rPr lang="en-US" altLang="ja-JP" dirty="0">
                <a:solidFill>
                  <a:schemeClr val="tx1"/>
                </a:solidFill>
              </a:rPr>
              <a:t>	</a:t>
            </a:r>
            <a:r>
              <a:rPr lang="ja-JP" altLang="en-US" dirty="0">
                <a:solidFill>
                  <a:srgbClr val="FF0000"/>
                </a:solidFill>
              </a:rPr>
              <a:t>←これ</a:t>
            </a:r>
            <a:endParaRPr lang="en-US" altLang="ja-JP" dirty="0">
              <a:solidFill>
                <a:srgbClr val="FF0000"/>
              </a:solidFill>
            </a:endParaRPr>
          </a:p>
          <a:p>
            <a:pPr marL="642937" lvl="2" indent="0">
              <a:buNone/>
            </a:pPr>
            <a:r>
              <a:rPr lang="en-US" altLang="ja-JP" dirty="0"/>
              <a:t>※</a:t>
            </a:r>
            <a:r>
              <a:rPr lang="ja-JP" altLang="en-US" dirty="0"/>
              <a:t>できたことだけ，ノートに書く人が多いが，肝心な情報量ゼロ．</a:t>
            </a:r>
          </a:p>
          <a:p>
            <a:pPr marL="685800" lvl="1" indent="-342900">
              <a:buFont typeface="+mj-ea"/>
              <a:buAutoNum type="circleNumDbPlain"/>
            </a:pPr>
            <a:r>
              <a:rPr lang="ja-JP" altLang="en-US" dirty="0"/>
              <a:t>先生に見せて，具体的手順より，</a:t>
            </a:r>
            <a:r>
              <a:rPr lang="ja-JP" altLang="en-US" dirty="0">
                <a:solidFill>
                  <a:srgbClr val="FF0000"/>
                </a:solidFill>
              </a:rPr>
              <a:t>まずアイデアを聞く</a:t>
            </a:r>
            <a:r>
              <a:rPr lang="ja-JP" altLang="en-US" dirty="0">
                <a:solidFill>
                  <a:schemeClr val="tx1"/>
                </a:solidFill>
              </a:rPr>
              <a:t>．</a:t>
            </a:r>
            <a:r>
              <a:rPr lang="en-US" altLang="ja-JP" dirty="0">
                <a:solidFill>
                  <a:schemeClr val="tx1"/>
                </a:solidFill>
              </a:rPr>
              <a:t>	</a:t>
            </a:r>
            <a:r>
              <a:rPr lang="ja-JP" altLang="en-US" dirty="0">
                <a:solidFill>
                  <a:srgbClr val="FF0000"/>
                </a:solidFill>
              </a:rPr>
              <a:t>←これ</a:t>
            </a:r>
          </a:p>
          <a:p>
            <a:pPr marL="685800" lvl="1" indent="-342900">
              <a:buFont typeface="+mj-ea"/>
              <a:buAutoNum type="circleNumDbPlain"/>
            </a:pPr>
            <a:r>
              <a:rPr lang="ja-JP" altLang="en-US" dirty="0"/>
              <a:t>ノートを見せ合い，仲間と相談する．解決すれば，前進する．</a:t>
            </a:r>
          </a:p>
          <a:p>
            <a:pPr marL="685800" lvl="1" indent="-342900">
              <a:buFont typeface="+mj-ea"/>
              <a:buAutoNum type="circleNumDbPlain"/>
            </a:pPr>
            <a:r>
              <a:rPr lang="ja-JP" altLang="en-US" dirty="0"/>
              <a:t>それでもダメなら，現状をノートにメモして，先生に相談する．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1928388-212B-4D35-8925-D213234EC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4315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>
            <a:spLocks noGrp="1"/>
          </p:cNvSpPr>
          <p:nvPr>
            <p:ph type="title"/>
          </p:nvPr>
        </p:nvSpPr>
        <p:spPr>
          <a:xfrm>
            <a:off x="1944694" y="307811"/>
            <a:ext cx="6683765" cy="497282"/>
          </a:xfr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pPr lvl="0"/>
            <a:r>
              <a:rPr lang="ja-JP" altLang="en-US" dirty="0"/>
              <a:t>中高の部活と，大学の研究室との比較</a:t>
            </a:r>
          </a:p>
        </p:txBody>
      </p:sp>
      <p:graphicFrame>
        <p:nvGraphicFramePr>
          <p:cNvPr id="112" name="Google Shape;112;p17"/>
          <p:cNvGraphicFramePr/>
          <p:nvPr>
            <p:extLst>
              <p:ext uri="{D42A27DB-BD31-4B8C-83A1-F6EECF244321}">
                <p14:modId xmlns:p14="http://schemas.microsoft.com/office/powerpoint/2010/main" val="563410162"/>
              </p:ext>
            </p:extLst>
          </p:nvPr>
        </p:nvGraphicFramePr>
        <p:xfrm>
          <a:off x="1828801" y="1259137"/>
          <a:ext cx="5636028" cy="26252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78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4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" sz="1600"/>
                        <a:t>中高の部活</a:t>
                      </a:r>
                      <a:endParaRPr sz="16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" sz="1600"/>
                        <a:t>大学の研究室</a:t>
                      </a:r>
                      <a:endParaRPr sz="16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" sz="1600"/>
                        <a:t>新人</a:t>
                      </a:r>
                      <a:endParaRPr sz="16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600" dirty="0"/>
                        <a:t>１</a:t>
                      </a:r>
                      <a:r>
                        <a:rPr lang="ja" sz="1600" dirty="0"/>
                        <a:t>年</a:t>
                      </a: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" sz="1600" dirty="0"/>
                        <a:t>大学</a:t>
                      </a:r>
                      <a:r>
                        <a:rPr lang="ja-JP" altLang="en-US" sz="1600" dirty="0"/>
                        <a:t>４</a:t>
                      </a:r>
                      <a:r>
                        <a:rPr lang="ja" sz="1600" dirty="0"/>
                        <a:t>年</a:t>
                      </a:r>
                      <a:r>
                        <a:rPr lang="ja-JP" altLang="en-US" sz="1600" dirty="0"/>
                        <a:t>　</a:t>
                      </a:r>
                      <a:r>
                        <a:rPr lang="ja" sz="1600" dirty="0"/>
                        <a:t>（卒業研究）</a:t>
                      </a:r>
                      <a:endParaRPr sz="16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600" dirty="0"/>
                        <a:t>２</a:t>
                      </a:r>
                      <a:r>
                        <a:rPr lang="ja" sz="1600" dirty="0"/>
                        <a:t>年目</a:t>
                      </a: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600" dirty="0"/>
                        <a:t>２</a:t>
                      </a:r>
                      <a:r>
                        <a:rPr lang="ja" sz="1600" dirty="0"/>
                        <a:t>年</a:t>
                      </a: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600" dirty="0"/>
                        <a:t>修士１</a:t>
                      </a:r>
                      <a:r>
                        <a:rPr lang="ja" sz="1600" dirty="0"/>
                        <a:t>年</a:t>
                      </a:r>
                      <a:r>
                        <a:rPr lang="ja-JP" altLang="en-US" sz="1600" dirty="0"/>
                        <a:t>　</a:t>
                      </a:r>
                      <a:r>
                        <a:rPr lang="ja" sz="1600" dirty="0"/>
                        <a:t>（修士論文研究）</a:t>
                      </a:r>
                      <a:endParaRPr sz="16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600" dirty="0"/>
                        <a:t>３</a:t>
                      </a:r>
                      <a:r>
                        <a:rPr lang="ja" sz="1600" dirty="0"/>
                        <a:t>年目</a:t>
                      </a: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600" dirty="0"/>
                        <a:t>３</a:t>
                      </a:r>
                      <a:r>
                        <a:rPr lang="ja" sz="1600" dirty="0"/>
                        <a:t>年</a:t>
                      </a: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600" dirty="0"/>
                        <a:t>修士２</a:t>
                      </a:r>
                      <a:r>
                        <a:rPr lang="ja" sz="1600" dirty="0"/>
                        <a:t>年</a:t>
                      </a:r>
                      <a:r>
                        <a:rPr lang="ja-JP" altLang="en-US" sz="1600" dirty="0"/>
                        <a:t>　</a:t>
                      </a:r>
                      <a:r>
                        <a:rPr lang="ja" sz="1600" dirty="0"/>
                        <a:t>（修士論文研究）</a:t>
                      </a:r>
                      <a:endParaRPr sz="16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600" dirty="0"/>
                        <a:t>＋３年</a:t>
                      </a: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ja-JP" sz="1600" dirty="0"/>
                        <a:t>OB</a:t>
                      </a:r>
                      <a:r>
                        <a:rPr lang="ja-JP" altLang="en-US" sz="1600" dirty="0"/>
                        <a:t>の凄い人</a:t>
                      </a: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" sz="1600" dirty="0"/>
                        <a:t>博士</a:t>
                      </a:r>
                      <a:r>
                        <a:rPr lang="ja" altLang="en-US" sz="1600" dirty="0"/>
                        <a:t>課程</a:t>
                      </a:r>
                      <a:r>
                        <a:rPr lang="ja-JP" altLang="en-US" sz="1600" dirty="0"/>
                        <a:t>　</a:t>
                      </a:r>
                      <a:r>
                        <a:rPr lang="ja" altLang="en-US" sz="1600" dirty="0"/>
                        <a:t>（</a:t>
                      </a:r>
                      <a:r>
                        <a:rPr lang="ja-JP" altLang="en-US" sz="1600" dirty="0"/>
                        <a:t>博士</a:t>
                      </a:r>
                      <a:r>
                        <a:rPr lang="ja" altLang="en-US" sz="1600" dirty="0"/>
                        <a:t>論文研究）</a:t>
                      </a:r>
                      <a:endParaRPr sz="16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600" dirty="0"/>
                        <a:t>プロになった人</a:t>
                      </a: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600" dirty="0"/>
                        <a:t>教員</a:t>
                      </a:r>
                      <a:endParaRPr sz="16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147647669"/>
                  </a:ext>
                </a:extLst>
              </a:tr>
            </a:tbl>
          </a:graphicData>
        </a:graphic>
      </p:graphicFrame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2A6CE2-E9E1-4257-BEDF-2B6405D10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7/22/2025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129602"/>
      </p:ext>
    </p:extLst>
  </p:cSld>
  <p:clrMapOvr>
    <a:masterClrMapping/>
  </p:clrMapOvr>
</p:sld>
</file>

<file path=ppt/theme/theme1.xml><?xml version="1.0" encoding="utf-8"?>
<a:theme xmlns:a="http://schemas.openxmlformats.org/drawingml/2006/main" name="ウィスプ">
  <a:themeElements>
    <a:clrScheme name="ウィスプ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ウィスプ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ウィスプ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80</TotalTime>
  <Words>357</Words>
  <Application>Microsoft Office PowerPoint</Application>
  <PresentationFormat>画面に合わせる (16:9)</PresentationFormat>
  <Paragraphs>50</Paragraphs>
  <Slides>5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Century Gothic</vt:lpstr>
      <vt:lpstr>Wingdings 3</vt:lpstr>
      <vt:lpstr>Arial</vt:lpstr>
      <vt:lpstr>Calibri</vt:lpstr>
      <vt:lpstr>ウィスプ</vt:lpstr>
      <vt:lpstr>物体運動の シミュレーション</vt:lpstr>
      <vt:lpstr>高校生へのメッセージ</vt:lpstr>
      <vt:lpstr>本日のメニュー</vt:lpstr>
      <vt:lpstr>「できないこと」への対処法（研究者の経験則）</vt:lpstr>
      <vt:lpstr>中高の部活と，大学の研究室との比較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物体運動の シミュレーション</dc:title>
  <cp:lastModifiedBy>吉田 勝俊</cp:lastModifiedBy>
  <cp:revision>26</cp:revision>
  <cp:lastPrinted>2025-07-22T03:48:41Z</cp:lastPrinted>
  <dcterms:modified xsi:type="dcterms:W3CDTF">2026-07-27T23:18:27Z</dcterms:modified>
</cp:coreProperties>
</file>