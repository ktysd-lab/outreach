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21" r:id="rId1"/>
  </p:sldMasterIdLst>
  <p:notesMasterIdLst>
    <p:notesMasterId r:id="rId7"/>
  </p:notesMasterIdLst>
  <p:handoutMasterIdLst>
    <p:handoutMasterId r:id="rId8"/>
  </p:handoutMasterIdLst>
  <p:sldIdLst>
    <p:sldId id="261" r:id="rId2"/>
    <p:sldId id="262" r:id="rId3"/>
    <p:sldId id="263" r:id="rId4"/>
    <p:sldId id="264" r:id="rId5"/>
    <p:sldId id="265" r:id="rId6"/>
  </p:sldIdLst>
  <p:sldSz cx="9144000" cy="5143500" type="screen16x9"/>
  <p:notesSz cx="10234613" cy="70993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Wingdings 3" panose="05040102010807070707" pitchFamily="18" charset="2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3A0798-9444-4FAF-A0DA-8A320EB8CD9E}">
  <a:tblStyle styleId="{6E3A0798-9444-4FAF-A0DA-8A320EB8CD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44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8976273-865F-4DEE-BAD6-E2714E9AFA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609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r>
              <a:rPr lang="ja-JP" altLang="en-US"/>
              <a:t>　</a:t>
            </a:r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B3D82A-6FF2-4AE8-99D9-C6F567A36C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838" y="0"/>
            <a:ext cx="4434999" cy="356609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2DE2CB9-AE8C-42A2-B14E-7E07BA321FD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BAF2EF-6FB2-402D-9DC6-DB5B61D4CA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2693"/>
            <a:ext cx="4434999" cy="356608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47C509-0C6A-4F9C-9842-F159FA7F23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838" y="6742693"/>
            <a:ext cx="4434999" cy="356608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490C489-F093-4908-B506-A46B42234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0146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51138" y="531813"/>
            <a:ext cx="4732337" cy="2662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99032" rIns="99032" bIns="9903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1138" y="531813"/>
            <a:ext cx="4732337" cy="2662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96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2697d6796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1138" y="531813"/>
            <a:ext cx="4732337" cy="2662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42697d6796_0_297:notes"/>
          <p:cNvSpPr txBox="1">
            <a:spLocks noGrp="1"/>
          </p:cNvSpPr>
          <p:nvPr>
            <p:ph type="body" idx="1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8432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2697d6796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1138" y="531813"/>
            <a:ext cx="4732337" cy="2662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42697d6796_0_202:notes"/>
          <p:cNvSpPr txBox="1">
            <a:spLocks noGrp="1"/>
          </p:cNvSpPr>
          <p:nvPr>
            <p:ph type="body" idx="1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095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42697d6796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1138" y="531813"/>
            <a:ext cx="4732337" cy="2662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42697d6796_0_302:notes"/>
          <p:cNvSpPr txBox="1">
            <a:spLocks noGrp="1"/>
          </p:cNvSpPr>
          <p:nvPr>
            <p:ph type="body" idx="1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08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2871d974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1138" y="531813"/>
            <a:ext cx="4732337" cy="26622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42871d9749_1_0:notes"/>
          <p:cNvSpPr txBox="1">
            <a:spLocks noGrp="1"/>
          </p:cNvSpPr>
          <p:nvPr>
            <p:ph type="body" idx="1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649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320382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44817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055986"/>
            <a:ext cx="6686550" cy="3619432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38267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274260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230161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286923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324603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258449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3605031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424950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192760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9735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127295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25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4162297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2094406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193074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307811"/>
            <a:ext cx="6683765" cy="497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101560"/>
            <a:ext cx="6686550" cy="3581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733516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7/22/2025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737544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00000000-1234-1234-1234-123412341234}" type="slidenum">
              <a:rPr lang="en-US" altLang="ja" smtClean="0"/>
              <a:pPr/>
              <a:t>‹#›</a:t>
            </a:fld>
            <a:endParaRPr lang="ja" altLang="en-US"/>
          </a:p>
        </p:txBody>
      </p:sp>
    </p:spTree>
    <p:extLst>
      <p:ext uri="{BB962C8B-B14F-4D97-AF65-F5344CB8AC3E}">
        <p14:creationId xmlns:p14="http://schemas.microsoft.com/office/powerpoint/2010/main" val="288465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  <p:sldLayoutId id="2147484033" r:id="rId12"/>
    <p:sldLayoutId id="2147484034" r:id="rId13"/>
    <p:sldLayoutId id="2147484035" r:id="rId14"/>
    <p:sldLayoutId id="2147484036" r:id="rId15"/>
    <p:sldLayoutId id="2147484037" r:id="rId16"/>
  </p:sldLayoutIdLst>
  <p:hf sldNum="0" hdr="0" ftr="0"/>
  <p:txStyles>
    <p:titleStyle>
      <a:lvl1pPr algn="l" defTabSz="342900" rtl="0" eaLnBrk="1" latinLnBrk="0" hangingPunct="1">
        <a:spcBef>
          <a:spcPct val="0"/>
        </a:spcBef>
        <a:buNone/>
        <a:defRPr kumimoji="1"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spcFirstLastPara="1" vert="horz" wrap="square" lIns="91425" tIns="91425" rIns="91425" bIns="91425" rtlCol="0" anchor="b" anchorCtr="0">
            <a:normAutofit fontScale="90000"/>
          </a:bodyPr>
          <a:lstStyle/>
          <a:p>
            <a:pPr lvl="0"/>
            <a:r>
              <a:rPr lang="ja-JP" altLang="en-US" dirty="0"/>
              <a:t>物体運動の</a:t>
            </a:r>
          </a:p>
          <a:p>
            <a:pPr lvl="0"/>
            <a:r>
              <a:rPr lang="ja-JP" altLang="en-US" dirty="0"/>
              <a:t>コンピュータプログラミング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/>
          <a:p>
            <a:pPr lvl="0"/>
            <a:r>
              <a:rPr lang="ja-JP" altLang="en-US" dirty="0"/>
              <a:t>宇都宮大学　機械システム工学コース</a:t>
            </a:r>
          </a:p>
          <a:p>
            <a:pPr lvl="0"/>
            <a:r>
              <a:rPr lang="ja-JP" altLang="en-US" dirty="0"/>
              <a:t>吉田，山仲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36C2F2-D5E5-4E48-8F7A-D498C7FA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448173"/>
          </a:xfr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 lvl="0"/>
            <a:r>
              <a:rPr lang="ja-JP" altLang="en-US" dirty="0"/>
              <a:t>高校生へのメッセージ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idx="1"/>
          </p:nvPr>
        </p:nvSpPr>
        <p:spPr>
          <a:xfrm>
            <a:off x="1941909" y="1055986"/>
            <a:ext cx="6852006" cy="3619432"/>
          </a:xfr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ja-JP" altLang="en-US" dirty="0"/>
              <a:t>本講座は，大学２年生向けの講義を，簡単にしたものです．</a:t>
            </a:r>
          </a:p>
          <a:p>
            <a:pPr lvl="0">
              <a:lnSpc>
                <a:spcPct val="150000"/>
              </a:lnSpc>
            </a:pPr>
            <a:r>
              <a:rPr lang="ja-JP" altLang="en-US" dirty="0"/>
              <a:t>それでも</a:t>
            </a:r>
            <a:r>
              <a:rPr lang="ja-JP" altLang="en-US"/>
              <a:t>，難しく感じて</a:t>
            </a:r>
            <a:r>
              <a:rPr lang="ja-JP" altLang="en-US" dirty="0"/>
              <a:t>，途方に暮れるかも？</a:t>
            </a:r>
          </a:p>
          <a:p>
            <a:pPr lvl="1">
              <a:lnSpc>
                <a:spcPct val="150000"/>
              </a:lnSpc>
            </a:pPr>
            <a:r>
              <a:rPr lang="ja-JP" altLang="en-US" dirty="0"/>
              <a:t>習ってねーのに，できるわけねーし・・・</a:t>
            </a:r>
          </a:p>
          <a:p>
            <a:pPr lvl="0">
              <a:lnSpc>
                <a:spcPct val="150000"/>
              </a:lnSpc>
            </a:pPr>
            <a:r>
              <a:rPr lang="ja-JP" altLang="en-US" dirty="0"/>
              <a:t>実はこれは，皆さんだけではありません！</a:t>
            </a:r>
          </a:p>
          <a:p>
            <a:pPr lvl="1">
              <a:lnSpc>
                <a:spcPct val="150000"/>
              </a:lnSpc>
            </a:pPr>
            <a:r>
              <a:rPr lang="ja-JP" altLang="en-US" dirty="0"/>
              <a:t>大学生は卒業研究で，研究者は仕事で，同じ状況になります（笑）</a:t>
            </a:r>
          </a:p>
          <a:p>
            <a:pPr lvl="0">
              <a:lnSpc>
                <a:spcPct val="150000"/>
              </a:lnSpc>
            </a:pPr>
            <a:r>
              <a:rPr lang="ja-JP" altLang="en-US" dirty="0"/>
              <a:t>せっかくなので，体験して，対処法を身につけましょう．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7AC78E-8765-4F13-BC53-D8417AE1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2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448173"/>
          </a:xfr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 lvl="0"/>
            <a:r>
              <a:rPr lang="ja-JP" altLang="en-US" dirty="0"/>
              <a:t>本日のメニュー</a:t>
            </a:r>
          </a:p>
        </p:txBody>
      </p:sp>
      <p:sp>
        <p:nvSpPr>
          <p:cNvPr id="98" name="Google Shape;98;p15"/>
          <p:cNvSpPr txBox="1">
            <a:spLocks noGrp="1"/>
          </p:cNvSpPr>
          <p:nvPr>
            <p:ph idx="1"/>
          </p:nvPr>
        </p:nvSpPr>
        <p:spPr>
          <a:xfrm>
            <a:off x="1941909" y="1055986"/>
            <a:ext cx="6686550" cy="3619432"/>
          </a:xfr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ja-JP" altLang="en-US" dirty="0"/>
              <a:t>プログラミング環境への手引き</a:t>
            </a:r>
          </a:p>
          <a:p>
            <a:pPr lvl="1">
              <a:lnSpc>
                <a:spcPct val="150000"/>
              </a:lnSpc>
            </a:pPr>
            <a:r>
              <a:rPr lang="ja-JP" altLang="en-US" dirty="0"/>
              <a:t>帰ってから，スマホや家の</a:t>
            </a:r>
            <a:r>
              <a:rPr lang="en-US" altLang="ja-JP" dirty="0"/>
              <a:t>PC</a:t>
            </a:r>
            <a:r>
              <a:rPr lang="ja-JP" altLang="en-US" dirty="0"/>
              <a:t>でも実行できます．</a:t>
            </a:r>
          </a:p>
          <a:p>
            <a:pPr lvl="0">
              <a:lnSpc>
                <a:spcPct val="150000"/>
              </a:lnSpc>
            </a:pPr>
            <a:r>
              <a:rPr lang="ja-JP" altLang="en-US" dirty="0"/>
              <a:t>科学技術プログラミング入門</a:t>
            </a:r>
          </a:p>
          <a:p>
            <a:pPr lvl="0">
              <a:lnSpc>
                <a:spcPct val="150000"/>
              </a:lnSpc>
            </a:pPr>
            <a:r>
              <a:rPr lang="ja-JP" altLang="en-US" dirty="0"/>
              <a:t>物体運動のシミュレーション体験</a:t>
            </a: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414" y="1270539"/>
            <a:ext cx="10572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5EF2DB-350C-41F2-9A59-552593532A6E}"/>
              </a:ext>
            </a:extLst>
          </p:cNvPr>
          <p:cNvSpPr txBox="1"/>
          <p:nvPr/>
        </p:nvSpPr>
        <p:spPr>
          <a:xfrm>
            <a:off x="5284788" y="368829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不安な人は，次のスライドへ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303B725-099D-4574-95FA-DABE90DC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07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1944694" y="468082"/>
            <a:ext cx="6683765" cy="448173"/>
          </a:xfr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 lvl="0"/>
            <a:r>
              <a:rPr lang="ja-JP" altLang="en-US" dirty="0"/>
              <a:t>「できないこと」への対処法</a:t>
            </a:r>
            <a:r>
              <a:rPr lang="ja-JP" altLang="en-US" sz="2200" dirty="0"/>
              <a:t>（研究者の経験則）</a:t>
            </a:r>
            <a:endParaRPr lang="ja-JP" altLang="en-US" dirty="0"/>
          </a:p>
        </p:txBody>
      </p:sp>
      <p:sp>
        <p:nvSpPr>
          <p:cNvPr id="106" name="Google Shape;106;p16"/>
          <p:cNvSpPr txBox="1">
            <a:spLocks noGrp="1"/>
          </p:cNvSpPr>
          <p:nvPr>
            <p:ph idx="1"/>
          </p:nvPr>
        </p:nvSpPr>
        <p:spPr>
          <a:xfrm>
            <a:off x="1941909" y="1055986"/>
            <a:ext cx="6686550" cy="3619432"/>
          </a:xfr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lvl="0"/>
            <a:r>
              <a:rPr lang="ja-JP" altLang="en-US" dirty="0"/>
              <a:t>小中高の倫理感を，見直す！　</a:t>
            </a:r>
            <a:r>
              <a:rPr lang="ja-JP" altLang="en-US" sz="1600" dirty="0"/>
              <a:t>∵クリエイティブには不向き</a:t>
            </a:r>
            <a:endParaRPr lang="ja-JP" altLang="en-US" dirty="0"/>
          </a:p>
          <a:p>
            <a:pPr lvl="1"/>
            <a:r>
              <a:rPr lang="ja-JP" altLang="en-US" strike="sngStrike" dirty="0"/>
              <a:t>ものごとには，しっかり準備してから，取り組むべきだ</a:t>
            </a:r>
            <a:r>
              <a:rPr lang="en-US" altLang="ja-JP" dirty="0"/>
              <a:t>	</a:t>
            </a:r>
            <a:r>
              <a:rPr lang="ja-JP" altLang="en-US" dirty="0"/>
              <a:t>←無理</a:t>
            </a:r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ものごとには，準備不足だろうが，取り組むべきだ！</a:t>
            </a:r>
            <a:r>
              <a:rPr lang="en-US" altLang="ja-JP" dirty="0">
                <a:solidFill>
                  <a:srgbClr val="FF0000"/>
                </a:solidFill>
              </a:rPr>
              <a:t>		</a:t>
            </a:r>
            <a:r>
              <a:rPr lang="ja-JP" altLang="en-US" dirty="0">
                <a:solidFill>
                  <a:srgbClr val="FF0000"/>
                </a:solidFill>
              </a:rPr>
              <a:t>←これ</a:t>
            </a:r>
          </a:p>
          <a:p>
            <a:pPr lvl="0">
              <a:spcBef>
                <a:spcPts val="1200"/>
              </a:spcBef>
            </a:pPr>
            <a:r>
              <a:rPr lang="ja-JP" altLang="en-US" dirty="0"/>
              <a:t>効果的な作業方法：</a:t>
            </a:r>
          </a:p>
          <a:p>
            <a:pPr marL="685800" lvl="1" indent="-342900">
              <a:buFont typeface="+mj-ea"/>
              <a:buAutoNum type="circleNumDbPlain"/>
            </a:pPr>
            <a:r>
              <a:rPr lang="ja-JP" altLang="en-US" dirty="0"/>
              <a:t>ノートを開いておく．できるところまで前進する．</a:t>
            </a:r>
          </a:p>
          <a:p>
            <a:pPr marL="685800" lvl="1" indent="-342900">
              <a:buFont typeface="+mj-ea"/>
              <a:buAutoNum type="circleNumDbPlain"/>
            </a:pPr>
            <a:r>
              <a:rPr lang="ja-JP" altLang="en-US" dirty="0"/>
              <a:t>つまずいたら，</a:t>
            </a:r>
            <a:r>
              <a:rPr lang="ja-JP" altLang="en-US" dirty="0">
                <a:solidFill>
                  <a:srgbClr val="FF0000"/>
                </a:solidFill>
              </a:rPr>
              <a:t>できないこと</a:t>
            </a:r>
            <a:r>
              <a:rPr lang="ja-JP" altLang="en-US" dirty="0"/>
              <a:t>を，</a:t>
            </a:r>
            <a:r>
              <a:rPr lang="ja-JP" altLang="en-US" dirty="0">
                <a:solidFill>
                  <a:srgbClr val="FF0000"/>
                </a:solidFill>
              </a:rPr>
              <a:t>ノート</a:t>
            </a:r>
            <a:r>
              <a:rPr lang="ja-JP" altLang="en-US" dirty="0"/>
              <a:t>に書く </a:t>
            </a:r>
            <a:r>
              <a:rPr lang="en-US" altLang="ja-JP" dirty="0"/>
              <a:t>/ </a:t>
            </a:r>
            <a:r>
              <a:rPr lang="ja-JP" altLang="en-US" dirty="0"/>
              <a:t>描く．</a:t>
            </a:r>
            <a:r>
              <a:rPr lang="en-US" altLang="ja-JP" dirty="0">
                <a:solidFill>
                  <a:schemeClr val="tx1"/>
                </a:solidFill>
              </a:rPr>
              <a:t>	</a:t>
            </a:r>
            <a:r>
              <a:rPr lang="ja-JP" altLang="en-US" dirty="0">
                <a:solidFill>
                  <a:srgbClr val="FF0000"/>
                </a:solidFill>
              </a:rPr>
              <a:t>←これ</a:t>
            </a:r>
            <a:endParaRPr lang="en-US" altLang="ja-JP" dirty="0">
              <a:solidFill>
                <a:srgbClr val="FF0000"/>
              </a:solidFill>
            </a:endParaRPr>
          </a:p>
          <a:p>
            <a:pPr marL="642937" lvl="2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できたことを書く習慣の人が多いが，肝心な情報量がゼロ．</a:t>
            </a:r>
          </a:p>
          <a:p>
            <a:pPr marL="685800" lvl="1" indent="-342900">
              <a:buFont typeface="+mj-ea"/>
              <a:buAutoNum type="circleNumDbPlain"/>
            </a:pPr>
            <a:r>
              <a:rPr lang="ja-JP" altLang="en-US" dirty="0"/>
              <a:t>先生に見せて，具体的手順より，</a:t>
            </a:r>
            <a:r>
              <a:rPr lang="ja-JP" altLang="en-US" dirty="0">
                <a:solidFill>
                  <a:srgbClr val="FF0000"/>
                </a:solidFill>
              </a:rPr>
              <a:t>まずアイデアを聞く</a:t>
            </a:r>
            <a:r>
              <a:rPr lang="ja-JP" altLang="en-US" dirty="0">
                <a:solidFill>
                  <a:schemeClr val="tx1"/>
                </a:solidFill>
              </a:rPr>
              <a:t>．</a:t>
            </a:r>
            <a:r>
              <a:rPr lang="en-US" altLang="ja-JP" dirty="0">
                <a:solidFill>
                  <a:schemeClr val="tx1"/>
                </a:solidFill>
              </a:rPr>
              <a:t>	</a:t>
            </a:r>
            <a:r>
              <a:rPr lang="ja-JP" altLang="en-US" dirty="0">
                <a:solidFill>
                  <a:srgbClr val="FF0000"/>
                </a:solidFill>
              </a:rPr>
              <a:t>←これ</a:t>
            </a:r>
          </a:p>
          <a:p>
            <a:pPr marL="685800" lvl="1" indent="-342900">
              <a:buFont typeface="+mj-ea"/>
              <a:buAutoNum type="circleNumDbPlain"/>
            </a:pPr>
            <a:r>
              <a:rPr lang="ja-JP" altLang="en-US" dirty="0"/>
              <a:t>ノートを見せ合い，仲間と相談する．解決すれば，前進する．</a:t>
            </a:r>
          </a:p>
          <a:p>
            <a:pPr marL="685800" lvl="1" indent="-342900">
              <a:buFont typeface="+mj-ea"/>
              <a:buAutoNum type="circleNumDbPlain"/>
            </a:pPr>
            <a:r>
              <a:rPr lang="ja-JP" altLang="en-US" dirty="0"/>
              <a:t>それでもダメなら，現状をノートにメモして，先生に相談する．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1928388-212B-4D35-8925-D213234E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1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1944694" y="307811"/>
            <a:ext cx="6683765" cy="497282"/>
          </a:xfrm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 lvl="0"/>
            <a:r>
              <a:rPr lang="ja-JP" altLang="en-US" dirty="0"/>
              <a:t>中高の部活と，大学の研究室との比較</a:t>
            </a:r>
          </a:p>
        </p:txBody>
      </p:sp>
      <p:graphicFrame>
        <p:nvGraphicFramePr>
          <p:cNvPr id="112" name="Google Shape;112;p17"/>
          <p:cNvGraphicFramePr/>
          <p:nvPr>
            <p:extLst>
              <p:ext uri="{D42A27DB-BD31-4B8C-83A1-F6EECF244321}">
                <p14:modId xmlns:p14="http://schemas.microsoft.com/office/powerpoint/2010/main" val="563410162"/>
              </p:ext>
            </p:extLst>
          </p:nvPr>
        </p:nvGraphicFramePr>
        <p:xfrm>
          <a:off x="1828801" y="1259137"/>
          <a:ext cx="5636028" cy="26252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4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/>
                        <a:t>中高の部活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/>
                        <a:t>大学の研究室</a:t>
                      </a: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/>
                        <a:t>新人</a:t>
                      </a: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１</a:t>
                      </a:r>
                      <a:r>
                        <a:rPr lang="ja" sz="1600" dirty="0"/>
                        <a:t>年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 dirty="0"/>
                        <a:t>大学</a:t>
                      </a:r>
                      <a:r>
                        <a:rPr lang="ja-JP" altLang="en-US" sz="1600" dirty="0"/>
                        <a:t>４</a:t>
                      </a:r>
                      <a:r>
                        <a:rPr lang="ja" sz="1600" dirty="0"/>
                        <a:t>年</a:t>
                      </a:r>
                      <a:r>
                        <a:rPr lang="ja-JP" altLang="en-US" sz="1600" dirty="0"/>
                        <a:t>　</a:t>
                      </a:r>
                      <a:r>
                        <a:rPr lang="ja" sz="1600" dirty="0"/>
                        <a:t>（卒業研究）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２</a:t>
                      </a:r>
                      <a:r>
                        <a:rPr lang="ja" sz="1600" dirty="0"/>
                        <a:t>年目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２</a:t>
                      </a:r>
                      <a:r>
                        <a:rPr lang="ja" sz="1600" dirty="0"/>
                        <a:t>年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修士１</a:t>
                      </a:r>
                      <a:r>
                        <a:rPr lang="ja" sz="1600" dirty="0"/>
                        <a:t>年</a:t>
                      </a:r>
                      <a:r>
                        <a:rPr lang="ja-JP" altLang="en-US" sz="1600" dirty="0"/>
                        <a:t>　</a:t>
                      </a:r>
                      <a:r>
                        <a:rPr lang="ja" sz="1600" dirty="0"/>
                        <a:t>（修士論文研究）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３</a:t>
                      </a:r>
                      <a:r>
                        <a:rPr lang="ja" sz="1600" dirty="0"/>
                        <a:t>年目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３</a:t>
                      </a:r>
                      <a:r>
                        <a:rPr lang="ja" sz="1600" dirty="0"/>
                        <a:t>年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修士２</a:t>
                      </a:r>
                      <a:r>
                        <a:rPr lang="ja" sz="1600" dirty="0"/>
                        <a:t>年</a:t>
                      </a:r>
                      <a:r>
                        <a:rPr lang="ja-JP" altLang="en-US" sz="1600" dirty="0"/>
                        <a:t>　</a:t>
                      </a:r>
                      <a:r>
                        <a:rPr lang="ja" sz="1600" dirty="0"/>
                        <a:t>（修士論文研究）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＋３年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600" dirty="0"/>
                        <a:t>OB</a:t>
                      </a:r>
                      <a:r>
                        <a:rPr lang="ja-JP" altLang="en-US" sz="1600" dirty="0"/>
                        <a:t>の凄い人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600" dirty="0"/>
                        <a:t>博士</a:t>
                      </a:r>
                      <a:r>
                        <a:rPr lang="ja" altLang="en-US" sz="1600" dirty="0"/>
                        <a:t>課程</a:t>
                      </a:r>
                      <a:r>
                        <a:rPr lang="ja-JP" altLang="en-US" sz="1600" dirty="0"/>
                        <a:t>　</a:t>
                      </a:r>
                      <a:r>
                        <a:rPr lang="ja" altLang="en-US" sz="1600" dirty="0"/>
                        <a:t>（</a:t>
                      </a:r>
                      <a:r>
                        <a:rPr lang="ja-JP" altLang="en-US" sz="1600" dirty="0"/>
                        <a:t>博士</a:t>
                      </a:r>
                      <a:r>
                        <a:rPr lang="ja" altLang="en-US" sz="1600" dirty="0"/>
                        <a:t>論文研究）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プロになった人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dirty="0"/>
                        <a:t>教員</a:t>
                      </a: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47647669"/>
                  </a:ext>
                </a:extLst>
              </a:tr>
            </a:tbl>
          </a:graphicData>
        </a:graphic>
      </p:graphicFrame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2A6CE2-E9E1-4257-BEDF-2B6405D1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29602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85</TotalTime>
  <Words>357</Words>
  <Application>Microsoft Office PowerPoint</Application>
  <PresentationFormat>画面に合わせる (16:9)</PresentationFormat>
  <Paragraphs>50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Calibri</vt:lpstr>
      <vt:lpstr>Century Gothic</vt:lpstr>
      <vt:lpstr>Wingdings 3</vt:lpstr>
      <vt:lpstr>Arial</vt:lpstr>
      <vt:lpstr>ウィスプ</vt:lpstr>
      <vt:lpstr>物体運動の コンピュータプログラミング</vt:lpstr>
      <vt:lpstr>高校生へのメッセージ</vt:lpstr>
      <vt:lpstr>本日のメニュー</vt:lpstr>
      <vt:lpstr>「できないこと」への対処法（研究者の経験則）</vt:lpstr>
      <vt:lpstr>中高の部活と，大学の研究室との比較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物体運動の シミュレーション</dc:title>
  <cp:lastModifiedBy>吉田 勝俊</cp:lastModifiedBy>
  <cp:revision>28</cp:revision>
  <cp:lastPrinted>2025-07-22T03:48:41Z</cp:lastPrinted>
  <dcterms:modified xsi:type="dcterms:W3CDTF">2026-07-31T23:30:56Z</dcterms:modified>
</cp:coreProperties>
</file>